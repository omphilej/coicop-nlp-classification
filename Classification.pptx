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3"/>
  </p:notesMasterIdLst>
  <p:sldIdLst>
    <p:sldId id="258" r:id="rId6"/>
    <p:sldId id="25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 autoAdjust="0"/>
    <p:restoredTop sz="94660"/>
  </p:normalViewPr>
  <p:slideViewPr>
    <p:cSldViewPr>
      <p:cViewPr varScale="1">
        <p:scale>
          <a:sx n="65" d="100"/>
          <a:sy n="65" d="100"/>
        </p:scale>
        <p:origin x="128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334" d="100"/>
          <a:sy n="334" d="100"/>
        </p:scale>
        <p:origin x="1512" y="69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2AC04-85DD-445D-8890-E9185B6212B5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74EB0-A8C6-4379-AA63-E9A0BD46F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9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CC41134-1C6F-4284-B12F-30CD73917DE7}" type="datetimeFigureOut">
              <a:rPr lang="en-ZA" smtClean="0"/>
              <a:t>2026/05/15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284DE6-A14E-450E-9204-FF7EB28CD8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32490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CC41134-1C6F-4284-B12F-30CD73917DE7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284DE6-A14E-450E-9204-FF7EB28CD8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801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CC41134-1C6F-4284-B12F-30CD73917DE7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284DE6-A14E-450E-9204-FF7EB28CD8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40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CC41134-1C6F-4284-B12F-30CD73917DE7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284DE6-A14E-450E-9204-FF7EB28CD8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354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CC41134-1C6F-4284-B12F-30CD73917DE7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284DE6-A14E-450E-9204-FF7EB28CD8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3029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CC41134-1C6F-4284-B12F-30CD73917DE7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284DE6-A14E-450E-9204-FF7EB28CD8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4062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CC41134-1C6F-4284-B12F-30CD73917DE7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284DE6-A14E-450E-9204-FF7EB28CD8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449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CC41134-1C6F-4284-B12F-30CD73917DE7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284DE6-A14E-450E-9204-FF7EB28CD8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9682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CC41134-1C6F-4284-B12F-30CD73917DE7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284DE6-A14E-450E-9204-FF7EB28CD8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109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CC41134-1C6F-4284-B12F-30CD73917DE7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284DE6-A14E-450E-9204-FF7EB28CD8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858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CC41134-1C6F-4284-B12F-30CD73917DE7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284DE6-A14E-450E-9204-FF7EB28CD8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849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15EB32-6521-446D-8AD7-CB262F37CB70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C290FA1-FBCA-4C0A-A43E-2E2514D9E0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2193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15EB32-6521-446D-8AD7-CB262F37CB70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C290FA1-FBCA-4C0A-A43E-2E2514D9E0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2474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15EB32-6521-446D-8AD7-CB262F37CB70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C290FA1-FBCA-4C0A-A43E-2E2514D9E0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2179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15EB32-6521-446D-8AD7-CB262F37CB70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C290FA1-FBCA-4C0A-A43E-2E2514D9E0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3585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15EB32-6521-446D-8AD7-CB262F37CB70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C290FA1-FBCA-4C0A-A43E-2E2514D9E0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8569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15EB32-6521-446D-8AD7-CB262F37CB70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C290FA1-FBCA-4C0A-A43E-2E2514D9E0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56872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15EB32-6521-446D-8AD7-CB262F37CB70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C290FA1-FBCA-4C0A-A43E-2E2514D9E0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6382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15EB32-6521-446D-8AD7-CB262F37CB70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C290FA1-FBCA-4C0A-A43E-2E2514D9E0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95000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15EB32-6521-446D-8AD7-CB262F37CB70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C290FA1-FBCA-4C0A-A43E-2E2514D9E0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91482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15EB32-6521-446D-8AD7-CB262F37CB70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C290FA1-FBCA-4C0A-A43E-2E2514D9E0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44066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15EB32-6521-446D-8AD7-CB262F37CB70}" type="datetimeFigureOut">
              <a:rPr lang="en-ZA" smtClean="0"/>
              <a:t>2026/05/15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C290FA1-FBCA-4C0A-A43E-2E2514D9E0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088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6288"/>
            <a:ext cx="9144000" cy="1149096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589240"/>
            <a:ext cx="9144000" cy="14401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107504" y="5553526"/>
            <a:ext cx="30963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IMPROVING</a:t>
            </a:r>
            <a:r>
              <a:rPr lang="en-US" sz="800" b="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LIVES THROUGH </a:t>
            </a:r>
            <a:r>
              <a:rPr lang="en-US" sz="8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ECOSYSTEMS</a:t>
            </a:r>
            <a:endParaRPr lang="en-US" sz="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6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2800"/>
            <a:ext cx="9144000" cy="86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999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32CE-7CD6-0F44-A106-6444461C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55875"/>
            <a:ext cx="8229600" cy="214625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COICOP Classification Machine Learning Model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65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8531-73DE-4494-B4C9-516609F7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Introduction &amp; Problem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A9171-668C-6733-163A-3F82B947A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60" y="126876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The Business Problem</a:t>
            </a:r>
          </a:p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Automating COICOP classification for retail scanner data — assigning standardized 8-digit Classification of Individual Consumption According to Purpose (COICOP) codes to thousands of products from Shoprite.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400" b="1" dirty="0"/>
              <a:t>Why It Matters</a:t>
            </a:r>
          </a:p>
          <a:p>
            <a:r>
              <a:rPr lang="en-GB" sz="1400" dirty="0"/>
              <a:t>Manual classification is slow and expensive — statisticians manually assign COICOP codes for inflation/CPI calculations</a:t>
            </a:r>
          </a:p>
          <a:p>
            <a:r>
              <a:rPr lang="en-GB" sz="1400" dirty="0"/>
              <a:t>Massive scale — 8,823 product records across 266 unique COICOP classes</a:t>
            </a:r>
          </a:p>
          <a:p>
            <a:r>
              <a:rPr lang="en-GB" sz="1400" dirty="0"/>
              <a:t>Extreme imbalance — 20 classes had only 1 sample (had to be removed); some classes have 60+ samples while others have just 2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400" b="1" dirty="0"/>
              <a:t>Key Challenge</a:t>
            </a:r>
          </a:p>
          <a:p>
            <a:r>
              <a:rPr lang="en-GB" sz="1400" i="1" dirty="0"/>
              <a:t>How do we automatically classify 8,803 retail products into 246 COICOP categories, while handling extreme class imbalance (130× weight range), noisy text, and knowing when the model is uncertain enough to require human review?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79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F5CA-61EB-DCF4-1748-FB30D9E7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&amp; 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C3F45-4150-7F35-914E-602319A13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Step 1: Text Cleaning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Lowercased text, removed punctuation/special chars, normalized whitespace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Result: 8,823 cleaned product descriptions ready for embedding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Step 2: Feature engineering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34D6B2-8A57-C235-5228-D511548BF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348914"/>
              </p:ext>
            </p:extLst>
          </p:nvPr>
        </p:nvGraphicFramePr>
        <p:xfrm>
          <a:off x="457200" y="2204864"/>
          <a:ext cx="5162352" cy="32004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20784">
                  <a:extLst>
                    <a:ext uri="{9D8B030D-6E8A-4147-A177-3AD203B41FA5}">
                      <a16:colId xmlns:a16="http://schemas.microsoft.com/office/drawing/2014/main" val="2444134685"/>
                    </a:ext>
                  </a:extLst>
                </a:gridCol>
                <a:gridCol w="1720784">
                  <a:extLst>
                    <a:ext uri="{9D8B030D-6E8A-4147-A177-3AD203B41FA5}">
                      <a16:colId xmlns:a16="http://schemas.microsoft.com/office/drawing/2014/main" val="3904585639"/>
                    </a:ext>
                  </a:extLst>
                </a:gridCol>
                <a:gridCol w="1720784">
                  <a:extLst>
                    <a:ext uri="{9D8B030D-6E8A-4147-A177-3AD203B41FA5}">
                      <a16:colId xmlns:a16="http://schemas.microsoft.com/office/drawing/2014/main" val="1110268452"/>
                    </a:ext>
                  </a:extLst>
                </a:gridCol>
              </a:tblGrid>
              <a:tr h="3575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Feature Type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Count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Source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372693879"/>
                  </a:ext>
                </a:extLst>
              </a:tr>
              <a:tr h="62567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Categorical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Barcode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, 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Category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2757459"/>
                  </a:ext>
                </a:extLst>
              </a:tr>
              <a:tr h="893826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FastText Embeddings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Unsupervised skipgram on 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Item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503511"/>
                  </a:ext>
                </a:extLst>
              </a:tr>
              <a:tr h="62567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After PCA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Reduced from 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66430"/>
                  </a:ext>
                </a:extLst>
              </a:tr>
              <a:tr h="62567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Final feature set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82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2 categorical + 80 PCA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582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219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471879-E6CC-61BE-A2E7-00BAAD9FE8B2}"/>
              </a:ext>
            </a:extLst>
          </p:cNvPr>
          <p:cNvSpPr txBox="1"/>
          <p:nvPr/>
        </p:nvSpPr>
        <p:spPr>
          <a:xfrm>
            <a:off x="503548" y="476672"/>
            <a:ext cx="81369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Step 3: </a:t>
            </a:r>
            <a:r>
              <a:rPr lang="en-GB" b="1" dirty="0" err="1"/>
              <a:t>FastText</a:t>
            </a:r>
            <a:r>
              <a:rPr lang="en-GB" b="1" dirty="0"/>
              <a:t> </a:t>
            </a:r>
            <a:r>
              <a:rPr lang="en-GB" b="1" dirty="0" err="1"/>
              <a:t>Skipgram</a:t>
            </a:r>
            <a:r>
              <a:rPr lang="en-GB" b="1" dirty="0"/>
              <a:t> Training</a:t>
            </a:r>
          </a:p>
          <a:p>
            <a:r>
              <a:rPr lang="en-US" dirty="0" err="1"/>
              <a:t>fasttext.train_unsupervised</a:t>
            </a:r>
            <a:r>
              <a:rPr lang="en-US" dirty="0"/>
              <a:t>(</a:t>
            </a:r>
          </a:p>
          <a:p>
            <a:r>
              <a:rPr lang="en-US" dirty="0"/>
              <a:t>    'items_for_ft.txt', model='</a:t>
            </a:r>
            <a:r>
              <a:rPr lang="en-US" dirty="0" err="1"/>
              <a:t>skipgram</a:t>
            </a:r>
            <a:r>
              <a:rPr lang="en-US" dirty="0"/>
              <a:t>',</a:t>
            </a:r>
          </a:p>
          <a:p>
            <a:r>
              <a:rPr lang="en-US" dirty="0"/>
              <a:t>    </a:t>
            </a:r>
            <a:r>
              <a:rPr lang="en-US" dirty="0" err="1"/>
              <a:t>wordNgrams</a:t>
            </a:r>
            <a:r>
              <a:rPr lang="en-US" dirty="0"/>
              <a:t>=3, dim=300, epoch=30,</a:t>
            </a:r>
          </a:p>
          <a:p>
            <a:r>
              <a:rPr lang="en-US" dirty="0"/>
              <a:t>    </a:t>
            </a:r>
            <a:r>
              <a:rPr lang="en-US" dirty="0" err="1"/>
              <a:t>lr</a:t>
            </a:r>
            <a:r>
              <a:rPr lang="en-US" dirty="0"/>
              <a:t>=0.01, </a:t>
            </a:r>
            <a:r>
              <a:rPr lang="en-US" dirty="0" err="1"/>
              <a:t>minCount</a:t>
            </a:r>
            <a:r>
              <a:rPr lang="en-US" dirty="0"/>
              <a:t>=1, </a:t>
            </a:r>
            <a:r>
              <a:rPr lang="en-US" dirty="0" err="1"/>
              <a:t>minn</a:t>
            </a:r>
            <a:r>
              <a:rPr lang="en-US" dirty="0"/>
              <a:t>=3</a:t>
            </a:r>
          </a:p>
          <a:p>
            <a:r>
              <a:rPr lang="en-US" dirty="0"/>
              <a:t>)</a:t>
            </a:r>
          </a:p>
          <a:p>
            <a:r>
              <a:rPr lang="en-US" b="1" dirty="0"/>
              <a:t>Output</a:t>
            </a:r>
            <a:r>
              <a:rPr lang="en-US" dirty="0"/>
              <a:t>: 8,823 embeddings × 300 dimensions</a:t>
            </a:r>
          </a:p>
          <a:p>
            <a:r>
              <a:rPr lang="en-US" b="1" dirty="0"/>
              <a:t>Why </a:t>
            </a:r>
            <a:r>
              <a:rPr lang="en-US" b="1" dirty="0" err="1"/>
              <a:t>skipgram</a:t>
            </a:r>
            <a:r>
              <a:rPr lang="en-US" b="1" dirty="0"/>
              <a:t>?</a:t>
            </a:r>
            <a:r>
              <a:rPr lang="en-US" dirty="0"/>
              <a:t> Better for rare words (critical for niche product names)</a:t>
            </a:r>
          </a:p>
          <a:p>
            <a:r>
              <a:rPr lang="en-US" b="1" dirty="0"/>
              <a:t>Character n-grams</a:t>
            </a:r>
            <a:r>
              <a:rPr lang="en-US" dirty="0"/>
              <a:t> handle abbreviations and OOV words</a:t>
            </a:r>
          </a:p>
          <a:p>
            <a:endParaRPr lang="en-US" dirty="0"/>
          </a:p>
          <a:p>
            <a:r>
              <a:rPr lang="en-GB" b="1" dirty="0"/>
              <a:t>Step 4: Noise Filtering</a:t>
            </a:r>
          </a:p>
          <a:p>
            <a:r>
              <a:rPr lang="en-GB" dirty="0"/>
              <a:t>Removed 20 single-member classes → 266 → </a:t>
            </a:r>
            <a:r>
              <a:rPr lang="en-GB" b="1" dirty="0"/>
              <a:t>246 classes</a:t>
            </a:r>
            <a:endParaRPr lang="en-GB" dirty="0"/>
          </a:p>
          <a:p>
            <a:r>
              <a:rPr lang="en-GB" dirty="0"/>
              <a:t>Final dataset: </a:t>
            </a:r>
            <a:r>
              <a:rPr lang="en-GB" b="1" dirty="0"/>
              <a:t>8,803 rows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691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B8C35F-5A18-D320-E45C-D55E41569056}"/>
              </a:ext>
            </a:extLst>
          </p:cNvPr>
          <p:cNvSpPr txBox="1"/>
          <p:nvPr/>
        </p:nvSpPr>
        <p:spPr>
          <a:xfrm>
            <a:off x="611560" y="908720"/>
            <a:ext cx="79208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Step 5: </a:t>
            </a:r>
            <a:r>
              <a:rPr lang="en-US" dirty="0"/>
              <a:t>Principal Component Analysis(</a:t>
            </a:r>
            <a:r>
              <a:rPr lang="en-GB" dirty="0"/>
              <a:t>PCA) Dimensionality Reduction</a:t>
            </a:r>
          </a:p>
          <a:p>
            <a:r>
              <a:rPr lang="en-GB" dirty="0"/>
              <a:t>Metric			Value</a:t>
            </a:r>
          </a:p>
          <a:p>
            <a:r>
              <a:rPr lang="en-GB" dirty="0"/>
              <a:t>Input dimensions		300</a:t>
            </a:r>
          </a:p>
          <a:p>
            <a:r>
              <a:rPr lang="en-GB" dirty="0"/>
              <a:t>Output dimensions		80</a:t>
            </a:r>
          </a:p>
          <a:p>
            <a:r>
              <a:rPr lang="en-GB" dirty="0"/>
              <a:t>Variance retained		94.59%</a:t>
            </a:r>
          </a:p>
          <a:p>
            <a:r>
              <a:rPr lang="en-GB" dirty="0"/>
              <a:t>Train shape		(7042, 82)</a:t>
            </a:r>
          </a:p>
          <a:p>
            <a:r>
              <a:rPr lang="en-GB" dirty="0"/>
              <a:t>Test shape		(1761, 82)</a:t>
            </a:r>
          </a:p>
          <a:p>
            <a:endParaRPr lang="en-GB" dirty="0"/>
          </a:p>
          <a:p>
            <a:r>
              <a:rPr lang="en-GB" dirty="0"/>
              <a:t>Step 6: Stratified Train-Test Split</a:t>
            </a:r>
          </a:p>
          <a:p>
            <a:r>
              <a:rPr lang="en-GB" dirty="0"/>
              <a:t>Split		Samples		Percentage</a:t>
            </a:r>
          </a:p>
          <a:p>
            <a:r>
              <a:rPr lang="en-GB" dirty="0"/>
              <a:t>Train		7,042		80.0%</a:t>
            </a:r>
          </a:p>
          <a:p>
            <a:r>
              <a:rPr lang="en-GB" dirty="0"/>
              <a:t>Test		1,761		20.0%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488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C6CA5A0-93F1-A2BC-C343-D51430D26B6B}"/>
              </a:ext>
            </a:extLst>
          </p:cNvPr>
          <p:cNvSpPr txBox="1"/>
          <p:nvPr/>
        </p:nvSpPr>
        <p:spPr>
          <a:xfrm>
            <a:off x="251520" y="548680"/>
            <a:ext cx="83529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Step 7: Class Imbalance Handling</a:t>
            </a:r>
          </a:p>
          <a:p>
            <a:endParaRPr lang="en-GB" dirty="0"/>
          </a:p>
          <a:p>
            <a:r>
              <a:rPr lang="en-GB" dirty="0"/>
              <a:t>Statistic				Value</a:t>
            </a:r>
          </a:p>
          <a:p>
            <a:r>
              <a:rPr lang="en-GB" dirty="0"/>
              <a:t>Min sample weight			0.1101 (most common class)</a:t>
            </a:r>
          </a:p>
          <a:p>
            <a:r>
              <a:rPr lang="en-GB" dirty="0"/>
              <a:t>Max sample weight			14.3130 (rarest class)</a:t>
            </a:r>
          </a:p>
          <a:p>
            <a:r>
              <a:rPr lang="en-GB" dirty="0"/>
              <a:t>Weight range			130.00×</a:t>
            </a:r>
          </a:p>
          <a:p>
            <a:endParaRPr lang="en-GB" dirty="0"/>
          </a:p>
          <a:p>
            <a:r>
              <a:rPr lang="en-GB" dirty="0"/>
              <a:t>Solved using </a:t>
            </a:r>
            <a:r>
              <a:rPr lang="en-GB" dirty="0" err="1"/>
              <a:t>compute_sample_weight</a:t>
            </a:r>
            <a:r>
              <a:rPr lang="en-GB" dirty="0"/>
              <a:t>('balanced’) + </a:t>
            </a:r>
            <a:r>
              <a:rPr lang="en-GB" dirty="0" err="1"/>
              <a:t>LightGBM</a:t>
            </a:r>
            <a:r>
              <a:rPr lang="en-GB" dirty="0"/>
              <a:t> </a:t>
            </a:r>
            <a:r>
              <a:rPr lang="en-GB" dirty="0" err="1"/>
              <a:t>class_weight</a:t>
            </a:r>
            <a:r>
              <a:rPr lang="en-GB" dirty="0"/>
              <a:t>='balanced'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1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BE980-5905-22AF-780B-855DCCFCC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b="1" dirty="0"/>
              <a:t>Model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AFD69-88C3-9103-CA53-9368FE54D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US" sz="1100" b="1" dirty="0" err="1">
                <a:solidFill>
                  <a:srgbClr val="FF9DA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lgb_model</a:t>
            </a:r>
            <a:r>
              <a:rPr lang="en-US" sz="1100" b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99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1100" b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lgb.LGBMClassifier</a:t>
            </a:r>
            <a:r>
              <a:rPr lang="en-US" sz="1100" b="1" dirty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100" b="1" dirty="0">
                <a:solidFill>
                  <a:srgbClr val="BBD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objective </a:t>
            </a:r>
            <a:r>
              <a:rPr lang="en-US" sz="11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'multiclass',                      </a:t>
            </a:r>
            <a:r>
              <a:rPr lang="en-US" sz="1100" b="1" dirty="0">
                <a:solidFill>
                  <a:srgbClr val="7285B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Multiclass classification (246 classes)</a:t>
            </a:r>
            <a:endParaRPr lang="en-US" sz="1100" b="1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1" dirty="0">
                <a:solidFill>
                  <a:srgbClr val="BBD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num_class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100" b="1" dirty="0" err="1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100" b="1" dirty="0" err="1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np.unique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(y)),         </a:t>
            </a:r>
            <a:r>
              <a:rPr lang="en-US" sz="1100" b="1" dirty="0">
                <a:solidFill>
                  <a:srgbClr val="7285B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Number of output classes</a:t>
            </a:r>
            <a:endParaRPr lang="en-US" sz="1100" b="1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1" dirty="0">
                <a:solidFill>
                  <a:srgbClr val="BBD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num_leaves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10,</a:t>
            </a:r>
            <a:r>
              <a:rPr lang="en-US" sz="1100" b="1" dirty="0">
                <a:solidFill>
                  <a:srgbClr val="BBD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            	                   </a:t>
            </a:r>
            <a:r>
              <a:rPr lang="en-US" sz="1100" b="1" dirty="0">
                <a:solidFill>
                  <a:srgbClr val="7285B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Tree depth complexity (low = simpler trees, less overfit)</a:t>
            </a:r>
            <a:endParaRPr lang="en-US" sz="1100" b="1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1" dirty="0">
                <a:solidFill>
                  <a:srgbClr val="BBD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learning_rate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0.01,</a:t>
            </a:r>
            <a:r>
              <a:rPr lang="en-US" sz="1100" b="1" dirty="0">
                <a:solidFill>
                  <a:srgbClr val="BBD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                           </a:t>
            </a:r>
            <a:r>
              <a:rPr lang="en-US" sz="1100" b="1" dirty="0">
                <a:solidFill>
                  <a:srgbClr val="7285B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Learning rate (0.01 = conservative, stable)</a:t>
            </a:r>
            <a:endParaRPr lang="en-US" sz="1100" b="1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1" dirty="0">
                <a:solidFill>
                  <a:srgbClr val="BBD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n_estimators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2000,                           </a:t>
            </a:r>
            <a:r>
              <a:rPr lang="en-US" sz="1100" b="1" dirty="0">
                <a:solidFill>
                  <a:srgbClr val="7285B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Max number of boosting rounds (trees to train)</a:t>
            </a:r>
            <a:endParaRPr lang="en-US" sz="1100" b="1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1" dirty="0">
                <a:solidFill>
                  <a:srgbClr val="BBD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min_data_in_leaf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2,                          </a:t>
            </a:r>
            <a:r>
              <a:rPr lang="en-US" sz="1100" b="1" dirty="0">
                <a:solidFill>
                  <a:srgbClr val="7285B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Minimum samples per leaf (low = allows small groups)</a:t>
            </a:r>
            <a:endParaRPr lang="en-US" sz="1100" b="1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1" dirty="0">
                <a:solidFill>
                  <a:srgbClr val="BBD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importance_type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'gain',                   </a:t>
            </a:r>
            <a:r>
              <a:rPr lang="en-US" sz="1100" b="1" dirty="0">
                <a:solidFill>
                  <a:srgbClr val="7285B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Feature importance = sum of gain in splits</a:t>
            </a:r>
            <a:endParaRPr lang="en-US" sz="1100" b="1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1" dirty="0">
                <a:solidFill>
                  <a:srgbClr val="BBD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sz="1100" b="1" dirty="0" err="1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class_weight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'balanced',                 </a:t>
            </a:r>
            <a:r>
              <a:rPr lang="en-US" sz="1100" b="1" dirty="0">
                <a:solidFill>
                  <a:srgbClr val="7285B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Built-in class balancing (alternative to sample weights)</a:t>
            </a:r>
            <a:endParaRPr lang="en-US" sz="1100" b="1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1" dirty="0">
                <a:solidFill>
                  <a:srgbClr val="BBD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verbose </a:t>
            </a:r>
            <a:r>
              <a:rPr lang="en-US" sz="11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1100" b="1" dirty="0">
                <a:solidFill>
                  <a:srgbClr val="BBD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                                        </a:t>
            </a:r>
            <a:r>
              <a:rPr lang="en-US" sz="1100" b="1" dirty="0">
                <a:solidFill>
                  <a:srgbClr val="7285B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Suppress training output (-1 = no output)</a:t>
            </a:r>
            <a:endParaRPr lang="en-US" sz="1100" b="1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1" dirty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l">
              <a:buNone/>
            </a:pPr>
            <a:r>
              <a:rPr lang="en-GB" sz="1100" b="1" i="0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Training Performance (Multi-</a:t>
            </a:r>
            <a:r>
              <a:rPr lang="en-GB" sz="1100" b="1" i="0" u="sng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LogLoss</a:t>
            </a:r>
            <a:r>
              <a:rPr lang="en-GB" sz="11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None/>
            </a:pPr>
            <a:r>
              <a:rPr lang="en-GB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Iteration	Validation </a:t>
            </a:r>
            <a:r>
              <a:rPr lang="en-GB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LogLoss</a:t>
            </a:r>
            <a:r>
              <a:rPr lang="en-GB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Notes</a:t>
            </a:r>
          </a:p>
          <a:p>
            <a:pPr lvl="1">
              <a:buNone/>
            </a:pPr>
            <a:r>
              <a:rPr lang="en-GB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100			3.0107		Initial learning</a:t>
            </a:r>
          </a:p>
          <a:p>
            <a:pPr lvl="1">
              <a:buNone/>
            </a:pPr>
            <a:r>
              <a:rPr lang="en-GB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500			1.7219		Rapid improvement</a:t>
            </a:r>
          </a:p>
          <a:p>
            <a:pPr lvl="1">
              <a:buNone/>
            </a:pPr>
            <a:r>
              <a:rPr lang="en-GB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1000		1.5252		Plateau approaching</a:t>
            </a:r>
          </a:p>
          <a:p>
            <a:pPr lvl="1">
              <a:buNone/>
            </a:pPr>
            <a:r>
              <a:rPr lang="en-GB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1500		1.5177		Convergence</a:t>
            </a:r>
          </a:p>
          <a:p>
            <a:pPr lvl="1">
              <a:buNone/>
            </a:pPr>
            <a:r>
              <a:rPr lang="en-GB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1998		1.5145		Best iteration</a:t>
            </a:r>
          </a:p>
          <a:p>
            <a:pPr lvl="1">
              <a:buNone/>
            </a:pPr>
            <a:r>
              <a:rPr lang="en-GB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Training converged smoothly — no early stopping triggered, ran the full 2,000 rounds</a:t>
            </a:r>
            <a:r>
              <a:rPr lang="en-GB" sz="7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7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86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2C49-7969-8C30-41DC-27570C85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Results &amp; Evaluation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56633F-4F79-FC98-D30E-F8F070720A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991927"/>
              </p:ext>
            </p:extLst>
          </p:nvPr>
        </p:nvGraphicFramePr>
        <p:xfrm>
          <a:off x="1403648" y="1391487"/>
          <a:ext cx="6336704" cy="366296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3168352">
                  <a:extLst>
                    <a:ext uri="{9D8B030D-6E8A-4147-A177-3AD203B41FA5}">
                      <a16:colId xmlns:a16="http://schemas.microsoft.com/office/drawing/2014/main" val="2746882344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665389628"/>
                    </a:ext>
                  </a:extLst>
                </a:gridCol>
              </a:tblGrid>
              <a:tr h="5232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Metric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Score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86106701"/>
                  </a:ext>
                </a:extLst>
              </a:tr>
              <a:tr h="52328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Test Accuracy (overall)</a:t>
                      </a:r>
                      <a:endParaRPr lang="en-US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~74.3%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35442"/>
                  </a:ext>
                </a:extLst>
              </a:tr>
              <a:tr h="52328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F1 Weighted (test)</a:t>
                      </a:r>
                      <a:endParaRPr lang="en-US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0.7422</a:t>
                      </a:r>
                      <a:endParaRPr lang="en-US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899746"/>
                  </a:ext>
                </a:extLst>
              </a:tr>
              <a:tr h="52328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F1 Macro (test)</a:t>
                      </a:r>
                      <a:endParaRPr lang="en-US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0.5386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426784"/>
                  </a:ext>
                </a:extLst>
              </a:tr>
              <a:tr h="52328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5-Fold CV F1 Weighted</a:t>
                      </a:r>
                      <a:endParaRPr lang="en-US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0.8176 ± 0.0118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046987"/>
                  </a:ext>
                </a:extLst>
              </a:tr>
              <a:tr h="52328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5-Fold CV Accuracy</a:t>
                      </a:r>
                      <a:endParaRPr lang="en-US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0.8296 ± 0.0105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547268"/>
                  </a:ext>
                </a:extLst>
              </a:tr>
              <a:tr h="52328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Auto-Classify Accuracy</a:t>
                      </a:r>
                      <a:endParaRPr lang="en-US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86.39%</a:t>
                      </a:r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443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219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F8925E-F059-542E-7155-4A0D2D6BD12E}"/>
              </a:ext>
            </a:extLst>
          </p:cNvPr>
          <p:cNvSpPr txBox="1"/>
          <p:nvPr/>
        </p:nvSpPr>
        <p:spPr>
          <a:xfrm>
            <a:off x="431540" y="908720"/>
            <a:ext cx="82809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Cross-Validation Stability</a:t>
            </a:r>
          </a:p>
          <a:p>
            <a:r>
              <a:rPr lang="en-GB" dirty="0"/>
              <a:t>5-Fold Stratified CV scores were highly consistent</a:t>
            </a:r>
            <a:r>
              <a:rPr lang="en-GB" b="1" dirty="0"/>
              <a:t>:</a:t>
            </a:r>
            <a:endParaRPr lang="en-GB" dirty="0"/>
          </a:p>
          <a:p>
            <a:endParaRPr lang="en-US" dirty="0"/>
          </a:p>
          <a:p>
            <a:r>
              <a:rPr lang="en-GB" dirty="0"/>
              <a:t>Fold scores: [0.8293, 0.8111, 0.7984, 0.8200, 0.8293]</a:t>
            </a:r>
          </a:p>
          <a:p>
            <a:r>
              <a:rPr lang="en-GB" dirty="0"/>
              <a:t>Mean F1:    0.8176 ± 0.0118 (very low std → stable model)</a:t>
            </a:r>
          </a:p>
          <a:p>
            <a:endParaRPr lang="en-GB" dirty="0"/>
          </a:p>
          <a:p>
            <a:r>
              <a:rPr lang="en-GB" dirty="0"/>
              <a:t>Filtered Evaluation (Classes with ≥2 test samples)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A3D033-D1E7-E7D2-9DCF-DE2E44F13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646319"/>
              </p:ext>
            </p:extLst>
          </p:nvPr>
        </p:nvGraphicFramePr>
        <p:xfrm>
          <a:off x="539552" y="299695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1374756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30601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27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Classes evaluated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175(out of 246)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016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Test sample used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1699 / 1761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06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F1 (macro)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0.5656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592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F1 (weighted)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0.7695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065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624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0ADC3A-EE2F-78FC-01DE-8AEB8338D584}"/>
              </a:ext>
            </a:extLst>
          </p:cNvPr>
          <p:cNvSpPr txBox="1"/>
          <p:nvPr/>
        </p:nvSpPr>
        <p:spPr>
          <a:xfrm>
            <a:off x="382368" y="243082"/>
            <a:ext cx="763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Confidence-Based Performance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4DCF59-1B09-CC0E-456B-B1BA262C8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230346"/>
              </p:ext>
            </p:extLst>
          </p:nvPr>
        </p:nvGraphicFramePr>
        <p:xfrm>
          <a:off x="467544" y="612414"/>
          <a:ext cx="734481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2369">
                  <a:extLst>
                    <a:ext uri="{9D8B030D-6E8A-4147-A177-3AD203B41FA5}">
                      <a16:colId xmlns:a16="http://schemas.microsoft.com/office/drawing/2014/main" val="3622118424"/>
                    </a:ext>
                  </a:extLst>
                </a:gridCol>
                <a:gridCol w="1787708">
                  <a:extLst>
                    <a:ext uri="{9D8B030D-6E8A-4147-A177-3AD203B41FA5}">
                      <a16:colId xmlns:a16="http://schemas.microsoft.com/office/drawing/2014/main" val="262223765"/>
                    </a:ext>
                  </a:extLst>
                </a:gridCol>
                <a:gridCol w="1852369">
                  <a:extLst>
                    <a:ext uri="{9D8B030D-6E8A-4147-A177-3AD203B41FA5}">
                      <a16:colId xmlns:a16="http://schemas.microsoft.com/office/drawing/2014/main" val="2070346709"/>
                    </a:ext>
                  </a:extLst>
                </a:gridCol>
                <a:gridCol w="1852369">
                  <a:extLst>
                    <a:ext uri="{9D8B030D-6E8A-4147-A177-3AD203B41FA5}">
                      <a16:colId xmlns:a16="http://schemas.microsoft.com/office/drawing/2014/main" val="2423275979"/>
                    </a:ext>
                  </a:extLst>
                </a:gridCol>
              </a:tblGrid>
              <a:tr h="286545">
                <a:tc>
                  <a:txBody>
                    <a:bodyPr/>
                    <a:lstStyle/>
                    <a:p>
                      <a:r>
                        <a:rPr lang="en-GB" dirty="0"/>
                        <a:t>Subset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% of 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Performance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242375"/>
                  </a:ext>
                </a:extLst>
              </a:tr>
              <a:tr h="501454">
                <a:tc>
                  <a:txBody>
                    <a:bodyPr/>
                    <a:lstStyle/>
                    <a:p>
                      <a:r>
                        <a:rPr lang="en-GB" dirty="0"/>
                        <a:t>Confident (&gt;0.8)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1,352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76.8%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F1 = 0.8601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7808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GB" dirty="0"/>
                        <a:t>Uncertain (≤0.8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23.2%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manual review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003444"/>
                  </a:ext>
                </a:extLst>
              </a:tr>
              <a:tr h="2865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3271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EE06893-5257-34A3-19B1-1F0CDFE58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986776"/>
              </p:ext>
            </p:extLst>
          </p:nvPr>
        </p:nvGraphicFramePr>
        <p:xfrm>
          <a:off x="467544" y="2993426"/>
          <a:ext cx="734481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407">
                  <a:extLst>
                    <a:ext uri="{9D8B030D-6E8A-4147-A177-3AD203B41FA5}">
                      <a16:colId xmlns:a16="http://schemas.microsoft.com/office/drawing/2014/main" val="1773487714"/>
                    </a:ext>
                  </a:extLst>
                </a:gridCol>
                <a:gridCol w="3672407">
                  <a:extLst>
                    <a:ext uri="{9D8B030D-6E8A-4147-A177-3AD203B41FA5}">
                      <a16:colId xmlns:a16="http://schemas.microsoft.com/office/drawing/2014/main" val="1700851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Statistic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Value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886944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Min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0.0187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076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Max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1.0000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92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Mean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0.8584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99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Median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0.9985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1690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2AEF31-EFF8-245F-DE7F-7FD6FC65D84C}"/>
              </a:ext>
            </a:extLst>
          </p:cNvPr>
          <p:cNvSpPr txBox="1"/>
          <p:nvPr/>
        </p:nvSpPr>
        <p:spPr>
          <a:xfrm>
            <a:off x="382368" y="2632946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Confidence Distribution table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9AB81-DDAA-D01F-249C-F39C6C63F6AE}"/>
              </a:ext>
            </a:extLst>
          </p:cNvPr>
          <p:cNvSpPr txBox="1"/>
          <p:nvPr/>
        </p:nvSpPr>
        <p:spPr>
          <a:xfrm>
            <a:off x="382368" y="5023440"/>
            <a:ext cx="7691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/>
              <a:t>Median confidence of 0.9985 means most predictions are extremely confident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496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6C8DD1-E9B3-09FB-B1A7-544D12D5C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64" y="404664"/>
            <a:ext cx="7848872" cy="38884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140DBD-50A8-5B5C-987C-74B70722AA34}"/>
              </a:ext>
            </a:extLst>
          </p:cNvPr>
          <p:cNvSpPr txBox="1"/>
          <p:nvPr/>
        </p:nvSpPr>
        <p:spPr>
          <a:xfrm>
            <a:off x="539552" y="4437112"/>
            <a:ext cx="8244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Key Insight: Although Category is the single most important feature, the 80 PCA embeddings collectively contribute 91.89% of model decisions — proving </a:t>
            </a:r>
            <a:r>
              <a:rPr lang="en-GB" dirty="0" err="1"/>
              <a:t>FastText</a:t>
            </a:r>
            <a:r>
              <a:rPr lang="en-GB" dirty="0"/>
              <a:t> embeddings capture critical semantic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810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960D76-ED08-609A-6CF7-AE91EEA4080F}"/>
              </a:ext>
            </a:extLst>
          </p:cNvPr>
          <p:cNvSpPr txBox="1"/>
          <p:nvPr/>
        </p:nvSpPr>
        <p:spPr>
          <a:xfrm>
            <a:off x="756214" y="764704"/>
            <a:ext cx="76315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Production Manual Review Examples</a:t>
            </a:r>
          </a:p>
          <a:p>
            <a:r>
              <a:rPr lang="en-GB" dirty="0"/>
              <a:t>Top uncertain predictions flagged for human review: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i="1" dirty="0"/>
              <a:t>Even with very low confidence, some predictions are still correct — but the system correctly flags them for human verification.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73DD37-2C8B-C049-AC95-08AC1F7D1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5528"/>
              </p:ext>
            </p:extLst>
          </p:nvPr>
        </p:nvGraphicFramePr>
        <p:xfrm>
          <a:off x="756214" y="1545764"/>
          <a:ext cx="734417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835">
                  <a:extLst>
                    <a:ext uri="{9D8B030D-6E8A-4147-A177-3AD203B41FA5}">
                      <a16:colId xmlns:a16="http://schemas.microsoft.com/office/drawing/2014/main" val="1005337011"/>
                    </a:ext>
                  </a:extLst>
                </a:gridCol>
                <a:gridCol w="1468835">
                  <a:extLst>
                    <a:ext uri="{9D8B030D-6E8A-4147-A177-3AD203B41FA5}">
                      <a16:colId xmlns:a16="http://schemas.microsoft.com/office/drawing/2014/main" val="276656429"/>
                    </a:ext>
                  </a:extLst>
                </a:gridCol>
                <a:gridCol w="1468835">
                  <a:extLst>
                    <a:ext uri="{9D8B030D-6E8A-4147-A177-3AD203B41FA5}">
                      <a16:colId xmlns:a16="http://schemas.microsoft.com/office/drawing/2014/main" val="1714387158"/>
                    </a:ext>
                  </a:extLst>
                </a:gridCol>
                <a:gridCol w="1468835">
                  <a:extLst>
                    <a:ext uri="{9D8B030D-6E8A-4147-A177-3AD203B41FA5}">
                      <a16:colId xmlns:a16="http://schemas.microsoft.com/office/drawing/2014/main" val="1513505753"/>
                    </a:ext>
                  </a:extLst>
                </a:gridCol>
                <a:gridCol w="1468835">
                  <a:extLst>
                    <a:ext uri="{9D8B030D-6E8A-4147-A177-3AD203B41FA5}">
                      <a16:colId xmlns:a16="http://schemas.microsoft.com/office/drawing/2014/main" val="825544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Rank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Confidence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Predicted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Actual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Match?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461502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0.0187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1169100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1174500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dirty="0">
                          <a:effectLst/>
                        </a:rPr>
                        <a:t>N</a:t>
                      </a:r>
                      <a:r>
                        <a:rPr lang="en-US" dirty="0">
                          <a:effectLst/>
                        </a:rPr>
                        <a:t>o match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382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0.0238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1162200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1182001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dirty="0">
                          <a:effectLst/>
                        </a:rPr>
                        <a:t>N</a:t>
                      </a:r>
                      <a:r>
                        <a:rPr lang="en-US" dirty="0">
                          <a:effectLst/>
                        </a:rPr>
                        <a:t>o match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53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0.0247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1165900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1165900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dirty="0">
                          <a:effectLst/>
                        </a:rPr>
                        <a:t>M</a:t>
                      </a:r>
                      <a:r>
                        <a:rPr lang="en-US" dirty="0" err="1">
                          <a:effectLst/>
                        </a:rPr>
                        <a:t>atch</a:t>
                      </a:r>
                      <a:r>
                        <a:rPr lang="en-US" dirty="0">
                          <a:effectLst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8876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0.0342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1176400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1176400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dirty="0">
                          <a:effectLst/>
                        </a:rPr>
                        <a:t>M</a:t>
                      </a:r>
                      <a:r>
                        <a:rPr lang="en-US" dirty="0" err="1">
                          <a:effectLst/>
                        </a:rPr>
                        <a:t>atch</a:t>
                      </a:r>
                      <a:r>
                        <a:rPr lang="en-US" dirty="0">
                          <a:effectLst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615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832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278A-0754-275F-EF69-F2BEC923A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b="1" dirty="0"/>
              <a:t>Conclusion &amp; Future Work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708B93-151A-1842-40E1-0C3C12465D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149038"/>
              </p:ext>
            </p:extLst>
          </p:nvPr>
        </p:nvGraphicFramePr>
        <p:xfrm>
          <a:off x="457200" y="1156476"/>
          <a:ext cx="8229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6739971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599755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Achievement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Evidence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120987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End-to-end automated pipeline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Raw CSV → COICOP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84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Strong classification performance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>
                          <a:solidFill>
                            <a:schemeClr val="tx1"/>
                          </a:solidFill>
                          <a:effectLst/>
                        </a:rPr>
                        <a:t>F1 = 0.74 test, 0.82 CV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604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High auto-classify accuracy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effectLst/>
                        </a:rPr>
                        <a:t>86.39%</a:t>
                      </a:r>
                      <a:r>
                        <a:rPr lang="en-GB">
                          <a:solidFill>
                            <a:schemeClr val="tx1"/>
                          </a:solidFill>
                          <a:effectLst/>
                        </a:rPr>
                        <a:t> on 76.8% of products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485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Stable, generalizable model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>
                          <a:solidFill>
                            <a:schemeClr val="tx1"/>
                          </a:solidFill>
                          <a:effectLst/>
                        </a:rPr>
                        <a:t>CV std = 0.0118 (very low)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26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Massive workload reduction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>
                          <a:solidFill>
                            <a:schemeClr val="tx1"/>
                          </a:solidFill>
                          <a:effectLst/>
                        </a:rPr>
                        <a:t>Only </a:t>
                      </a:r>
                      <a:r>
                        <a:rPr lang="en-GB" b="1">
                          <a:solidFill>
                            <a:schemeClr val="tx1"/>
                          </a:solidFill>
                          <a:effectLst/>
                        </a:rPr>
                        <a:t>23.2% require manual review</a:t>
                      </a:r>
                      <a:endParaRPr lang="en-GB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700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Production artifacts saved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effectLst/>
                        </a:rPr>
                        <a:t>5 model files ready to deploy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51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314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1B6BD6-B40E-1863-C1F0-63D969A4F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656"/>
            <a:ext cx="9144000" cy="498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5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5637D3-C793-AA16-19B3-3E02C82F3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993252"/>
              </p:ext>
            </p:extLst>
          </p:nvPr>
        </p:nvGraphicFramePr>
        <p:xfrm>
          <a:off x="251520" y="188640"/>
          <a:ext cx="4176464" cy="4866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84706086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122039099"/>
                    </a:ext>
                  </a:extLst>
                </a:gridCol>
              </a:tblGrid>
              <a:tr h="3809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Limitation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Impact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48280877"/>
                  </a:ext>
                </a:extLst>
              </a:tr>
              <a:tr h="932229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effectLst/>
                        </a:rPr>
                        <a:t>Single retailer/year</a:t>
                      </a:r>
                      <a:r>
                        <a:rPr lang="en-GB">
                          <a:solidFill>
                            <a:schemeClr val="tx1"/>
                          </a:solidFill>
                          <a:effectLst/>
                        </a:rPr>
                        <a:t> (Shoprite 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Limited 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516690"/>
                  </a:ext>
                </a:extLst>
              </a:tr>
              <a:tr h="66666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Extreme imbalance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>
                          <a:solidFill>
                            <a:schemeClr val="tx1"/>
                          </a:solidFill>
                          <a:effectLst/>
                        </a:rPr>
                        <a:t>20 classes too rare to train (removed)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411624"/>
                  </a:ext>
                </a:extLst>
              </a:tr>
              <a:tr h="65256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F1 macro = 0.54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Rare classes still struggle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7157282"/>
                  </a:ext>
                </a:extLst>
              </a:tr>
              <a:tr h="66666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No hyperparameter tuning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>
                          <a:solidFill>
                            <a:schemeClr val="tx1"/>
                          </a:solidFill>
                          <a:effectLst/>
                        </a:rPr>
                        <a:t>Performance ceiling not yet reached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45679"/>
                  </a:ext>
                </a:extLst>
              </a:tr>
              <a:tr h="8009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Did not meet early stopping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Could potentially train longer</a:t>
                      </a:r>
                    </a:p>
                    <a:p>
                      <a:pPr algn="l" fontAlgn="base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386206"/>
                  </a:ext>
                </a:extLst>
              </a:tr>
              <a:tr h="65256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50705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E48B06-C465-FE66-50C1-31DC88046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308862"/>
              </p:ext>
            </p:extLst>
          </p:nvPr>
        </p:nvGraphicFramePr>
        <p:xfrm>
          <a:off x="4716016" y="188638"/>
          <a:ext cx="4176464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136533534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933007047"/>
                    </a:ext>
                  </a:extLst>
                </a:gridCol>
              </a:tblGrid>
              <a:tr h="3525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Enhancement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Expected Benefit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705458330"/>
                  </a:ext>
                </a:extLst>
              </a:tr>
              <a:tr h="61703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Multi-retailer training data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Better 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0199702"/>
                  </a:ext>
                </a:extLst>
              </a:tr>
              <a:tr h="88147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Hierarchical classification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Exploit COICOP tree structure (2→4→8 digits)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970973"/>
                  </a:ext>
                </a:extLst>
              </a:tr>
              <a:tr h="88147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Transformer embeddings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(BERT/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RoBERTa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Better text understanding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7775870"/>
                  </a:ext>
                </a:extLst>
              </a:tr>
              <a:tr h="61703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Hyperparameter tuning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(Optuna)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effectLst/>
                        </a:rPr>
                        <a:t>Push F1 from 0.82 → 0.85+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247641"/>
                  </a:ext>
                </a:extLst>
              </a:tr>
              <a:tr h="88147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Synthetic minority oversampling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(SMOTE)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Improve macro F1 on rare classes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887321"/>
                  </a:ext>
                </a:extLst>
              </a:tr>
              <a:tr h="88147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Lower confidence threshold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effectLst/>
                        </a:rPr>
                        <a:t>If manual capacity allows, increase auto-rate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210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556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08F204-7862-2293-FF4A-E33FE03E5D58}"/>
              </a:ext>
            </a:extLst>
          </p:cNvPr>
          <p:cNvSpPr txBox="1"/>
          <p:nvPr/>
        </p:nvSpPr>
        <p:spPr>
          <a:xfrm>
            <a:off x="755576" y="2044005"/>
            <a:ext cx="79208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Final Takeaway</a:t>
            </a:r>
          </a:p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The model successfully automates 76.8% of COICOP classification with 86.39% accuracy, while intelligently routing the most uncertain 23.2% to human reviewers — delivering a practical, deployable system that significantly reduces manual workload while maintaining classification quality.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787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429F-DE58-E97C-54A3-379221F0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0848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83949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E06304B1385746933ED06FDC28D853" ma:contentTypeVersion="3" ma:contentTypeDescription="Create a new document." ma:contentTypeScope="" ma:versionID="243128342fb92a940b017a117a794e58">
  <xsd:schema xmlns:xsd="http://www.w3.org/2001/XMLSchema" xmlns:xs="http://www.w3.org/2001/XMLSchema" xmlns:p="http://schemas.microsoft.com/office/2006/metadata/properties" xmlns:ns2="7822a446-cc90-4612-8ab5-747f263f1852" targetNamespace="http://schemas.microsoft.com/office/2006/metadata/properties" ma:root="true" ma:fieldsID="a6b4c6fb56612abbdaa67e6c7ebdb267" ns2:_="">
    <xsd:import namespace="7822a446-cc90-4612-8ab5-747f263f1852"/>
    <xsd:element name="properties">
      <xsd:complexType>
        <xsd:sequence>
          <xsd:element name="documentManagement">
            <xsd:complexType>
              <xsd:all>
                <xsd:element ref="ns2:Declared" minOccurs="0"/>
                <xsd:element ref="ns2:DocId" minOccurs="0"/>
                <xsd:element ref="ns2:MeridioUr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22a446-cc90-4612-8ab5-747f263f1852" elementFormDefault="qualified">
    <xsd:import namespace="http://schemas.microsoft.com/office/2006/documentManagement/types"/>
    <xsd:import namespace="http://schemas.microsoft.com/office/infopath/2007/PartnerControls"/>
    <xsd:element name="Declared" ma:index="8" nillable="true" ma:displayName="Declared" ma:default="FALSE" ma:hidden="true" ma:internalName="Declared">
      <xsd:simpleType>
        <xsd:restriction base="dms:Boolean"/>
      </xsd:simpleType>
    </xsd:element>
    <xsd:element name="DocId" ma:index="9" nillable="true" ma:displayName="DocId" ma:hidden="true" ma:internalName="DocId">
      <xsd:simpleType>
        <xsd:restriction base="dms:Text"/>
      </xsd:simpleType>
    </xsd:element>
    <xsd:element name="MeridioUrl" ma:index="10" nillable="true" ma:displayName="MeridioUrl" ma:hidden="true" ma:internalName="MeridioUrl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clared xmlns="7822a446-cc90-4612-8ab5-747f263f1852">false</Declared>
    <MeridioUrl xmlns="7822a446-cc90-4612-8ab5-747f263f1852" xsi:nil="true"/>
    <DocId xmlns="7822a446-cc90-4612-8ab5-747f263f185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0687BB-B327-4688-A014-56D951EB82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22a446-cc90-4612-8ab5-747f263f18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7B75BD-21EB-48E2-A8E1-F5B4D699DEAF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7822a446-cc90-4612-8ab5-747f263f185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151613D-A264-401F-83F8-E8EE0C1321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1254</TotalTime>
  <Words>1172</Words>
  <Application>Microsoft Office PowerPoint</Application>
  <PresentationFormat>On-screen Show (4:3)</PresentationFormat>
  <Paragraphs>224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Office Theme</vt:lpstr>
      <vt:lpstr>Custom Design</vt:lpstr>
      <vt:lpstr>COICOP Classification Machine Learning Model </vt:lpstr>
      <vt:lpstr>Introduction &amp; Problem</vt:lpstr>
      <vt:lpstr>Data &amp; Methodology</vt:lpstr>
      <vt:lpstr>PowerPoint Presentation</vt:lpstr>
      <vt:lpstr>PowerPoint Presentation</vt:lpstr>
      <vt:lpstr>PowerPoint Presentation</vt:lpstr>
      <vt:lpstr>Model Architecture</vt:lpstr>
      <vt:lpstr>4. Results &amp; Evaluation</vt:lpstr>
      <vt:lpstr>PowerPoint Presentation</vt:lpstr>
      <vt:lpstr>PowerPoint Presentation</vt:lpstr>
      <vt:lpstr>PowerPoint Presentation</vt:lpstr>
      <vt:lpstr>PowerPoint Presentation</vt:lpstr>
      <vt:lpstr>Conclusion &amp; Future Work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mariette</dc:creator>
  <cp:lastModifiedBy>Omphile Mmatli</cp:lastModifiedBy>
  <cp:revision>27</cp:revision>
  <dcterms:created xsi:type="dcterms:W3CDTF">2019-02-28T08:14:27Z</dcterms:created>
  <dcterms:modified xsi:type="dcterms:W3CDTF">2026-05-15T09:26:20Z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0x01010092E06304B1385746933ED06FDC28D853</vt:lpwstr>
  </property>
  <property fmtid="{D5CDD505-2E9C-101B-9397-08002B2CF9AE}" pid="3" name="MSIP_Label_a4616250-01d4-40ab-a2e8-d4b03b0a4768_Enabled">
    <vt:lpwstr>True</vt:lpwstr>
  </property>
  <property fmtid="{D5CDD505-2E9C-101B-9397-08002B2CF9AE}" pid="4" name="MSIP_Label_a4616250-01d4-40ab-a2e8-d4b03b0a4768_SiteId">
    <vt:lpwstr>ca38a9e5-8ce2-41e8-a41e-647c7b50db4a</vt:lpwstr>
  </property>
  <property fmtid="{D5CDD505-2E9C-101B-9397-08002B2CF9AE}" pid="5" name="MSIP_Label_a4616250-01d4-40ab-a2e8-d4b03b0a4768_Owner">
    <vt:lpwstr>JeremieM@statssa.gov.za</vt:lpwstr>
  </property>
  <property fmtid="{D5CDD505-2E9C-101B-9397-08002B2CF9AE}" pid="6" name="MSIP_Label_a4616250-01d4-40ab-a2e8-d4b03b0a4768_SetDate">
    <vt:lpwstr>2020-08-20T08:59:47.7031355Z</vt:lpwstr>
  </property>
  <property fmtid="{D5CDD505-2E9C-101B-9397-08002B2CF9AE}" pid="7" name="MSIP_Label_a4616250-01d4-40ab-a2e8-d4b03b0a4768_Name">
    <vt:lpwstr>Personal</vt:lpwstr>
  </property>
  <property fmtid="{D5CDD505-2E9C-101B-9397-08002B2CF9AE}" pid="8" name="MSIP_Label_a4616250-01d4-40ab-a2e8-d4b03b0a4768_Application">
    <vt:lpwstr>Microsoft Azure Information Protection</vt:lpwstr>
  </property>
  <property fmtid="{D5CDD505-2E9C-101B-9397-08002B2CF9AE}" pid="9" name="MSIP_Label_a4616250-01d4-40ab-a2e8-d4b03b0a4768_ActionId">
    <vt:lpwstr>2b2df409-df80-4ebe-8a6c-699ce72e894f</vt:lpwstr>
  </property>
  <property fmtid="{D5CDD505-2E9C-101B-9397-08002B2CF9AE}" pid="10" name="MSIP_Label_a4616250-01d4-40ab-a2e8-d4b03b0a4768_Extended_MSFT_Method">
    <vt:lpwstr>Automatic</vt:lpwstr>
  </property>
  <property fmtid="{D5CDD505-2E9C-101B-9397-08002B2CF9AE}" pid="11" name="Sensitivity">
    <vt:lpwstr>Personal</vt:lpwstr>
  </property>
</Properties>
</file>